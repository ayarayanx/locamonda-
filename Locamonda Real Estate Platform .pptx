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Inter Medium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E068A1-7F28-4F42-AAEA-B05C065F3D0A}">
  <a:tblStyle styleId="{E9E068A1-7F28-4F42-AAEA-B05C065F3D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1b2163e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e1b2163e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9180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255645" y="1796355"/>
            <a:ext cx="5680710" cy="9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LOCAMONDA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05212" y="2908845"/>
            <a:ext cx="4981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Property Rental &amp; Real Estate Platform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3747045"/>
            <a:ext cx="11430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073023" y="3951350"/>
            <a:ext cx="654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Graduation Project / Software Engineering Capstone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86150" y="4356645"/>
            <a:ext cx="40197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Presented by: </a:t>
            </a:r>
            <a:endParaRPr sz="15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Elamir Mohamed Elfoly</a:t>
            </a:r>
            <a:b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Asma Mohamed Abdallah </a:t>
            </a:r>
            <a:b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>
                <a:solidFill>
                  <a:srgbClr val="E8EAED"/>
                </a:solidFill>
                <a:highlight>
                  <a:srgbClr val="303134"/>
                </a:highlight>
              </a:rPr>
              <a:t>Aya Mohamed Rayan </a:t>
            </a:r>
            <a:br>
              <a:rPr lang="en-US" sz="1500">
                <a:solidFill>
                  <a:srgbClr val="E8EAED"/>
                </a:solidFill>
                <a:highlight>
                  <a:srgbClr val="303134"/>
                </a:highlight>
              </a:rPr>
            </a:br>
            <a:r>
              <a:rPr lang="en-US" sz="1500">
                <a:solidFill>
                  <a:srgbClr val="E8EAED"/>
                </a:solidFill>
                <a:highlight>
                  <a:srgbClr val="303134"/>
                </a:highlight>
              </a:rPr>
              <a:t>Basant Farag Mokhtar </a:t>
            </a:r>
            <a:br>
              <a:rPr lang="en-US" sz="1500">
                <a:solidFill>
                  <a:srgbClr val="E8EAED"/>
                </a:solidFill>
                <a:highlight>
                  <a:srgbClr val="303134"/>
                </a:highlight>
              </a:rPr>
            </a:br>
            <a:r>
              <a:rPr lang="en-US" sz="1500">
                <a:solidFill>
                  <a:srgbClr val="E8EAED"/>
                </a:solidFill>
                <a:highlight>
                  <a:srgbClr val="303134"/>
                </a:highlight>
              </a:rPr>
              <a:t>Tasneem Mohamed Eid </a:t>
            </a:r>
            <a:endParaRPr sz="1500">
              <a:solidFill>
                <a:srgbClr val="E8EAED"/>
              </a:solidFill>
              <a:highlight>
                <a:srgbClr val="303134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E8EAED"/>
              </a:solidFill>
              <a:highlight>
                <a:srgbClr val="303134"/>
              </a:highlight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500">
              <a:solidFill>
                <a:srgbClr val="E8EAED"/>
              </a:solidFill>
              <a:highlight>
                <a:srgbClr val="303134"/>
              </a:highlight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57687"/>
            <a:ext cx="110490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71637"/>
            <a:ext cx="53340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71637"/>
            <a:ext cx="53340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COMPREHENSIVE PROJECT OVERVIEW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85825" y="4672012"/>
            <a:ext cx="10941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Automated Management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5186362"/>
            <a:ext cx="10420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Equipping owners and administrators with powerful digital tools to manage portfolios, track bookings, and ensure data integrity in real-time.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85825" y="1985962"/>
            <a:ext cx="4940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Centralized Real Estate Hub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85825" y="2500312"/>
            <a:ext cx="4705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Locamonda is a full-featured web application designed to simplify property discovery, booking, and management through a single, secure unified ecosystem.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00825" y="1985962"/>
            <a:ext cx="4940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Streamlined Experience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00825" y="2500312"/>
            <a:ext cx="4705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From finding a dream home to automated approvals, the platform bridges the gap between property owners and seekers with zero friction.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 STATEMENT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00125" y="217646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Fragmented Marketplaces: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Listings are scattered across outdated platforms.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0125" y="29194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Processes: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Paper-based bookings are prone to errors and delays.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366236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Lack of Trust: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Inefficient communication leads to transparency issues.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44053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Legacy Systems: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Poor user experiences hinder modern digital adoption.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14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57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00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434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7620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LOCAMONDA SOLUTION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762000"/>
            <a:ext cx="57150" cy="12382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38125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Digital Transformation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8956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digitize the entire rental lifecycle—from discovery to final approval. Our platform ensures trust through transparency and efficiency through automation.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000125" y="4038600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Unified Digital Ecosystem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00125" y="4495800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Approval Workflows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4953000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Communication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76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33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911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25908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0900" y="2352675"/>
            <a:ext cx="25908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352675"/>
            <a:ext cx="25908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9700" y="2352675"/>
            <a:ext cx="25908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PROJECT OBJECTIVES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36771" y="3419475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85825" y="3933825"/>
            <a:ext cx="19621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Maximize operational speed for both renters and landlords.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656171" y="3419475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705225" y="3933825"/>
            <a:ext cx="1962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 high-grade data integrity and user privacy.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475571" y="3419475"/>
            <a:ext cx="206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UI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524625" y="3933825"/>
            <a:ext cx="1962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Deliver an intuitive interface with a premium digital feel.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294971" y="3419475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344025" y="3933825"/>
            <a:ext cx="19621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a robust architecture ready for future market growth.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6875" y="27146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770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7710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0712"/>
            <a:ext cx="3530649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749" y="1890712"/>
            <a:ext cx="3530649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999" y="1890712"/>
            <a:ext cx="3530649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2043112"/>
            <a:ext cx="32258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83149" y="2043112"/>
            <a:ext cx="32258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42399" y="2043112"/>
            <a:ext cx="32258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TARGET AUDIENCE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43253" y="4614862"/>
            <a:ext cx="338714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Seekers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23900" y="5129212"/>
            <a:ext cx="32258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Users looking to rent or buy homes safely.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402503" y="4614862"/>
            <a:ext cx="338714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Owners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483149" y="5129212"/>
            <a:ext cx="32258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Landlords seeking tools to manage their assets.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161752" y="4614862"/>
            <a:ext cx="338714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Admins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242399" y="5129212"/>
            <a:ext cx="32258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Governing the platform and resolving disputes.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3425" y="2052637"/>
            <a:ext cx="32067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92674" y="2052637"/>
            <a:ext cx="32067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51924" y="2052637"/>
            <a:ext cx="3206799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25908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0900" y="2152650"/>
            <a:ext cx="25908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152650"/>
            <a:ext cx="25908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9700" y="2152650"/>
            <a:ext cx="25908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ESSENTIAL SYSTEM FEATURES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836771" y="3219450"/>
            <a:ext cx="206025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Advanced Search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85825" y="4133850"/>
            <a:ext cx="1962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filtering for precise location and price matches.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3656171" y="3219450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HD Galleries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3705225" y="3733800"/>
            <a:ext cx="1962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High-resolution visuals to enhance decision making.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475571" y="3219450"/>
            <a:ext cx="206025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Integrated Chat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24625" y="4133850"/>
            <a:ext cx="19623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irect communication between owners and tenants.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294971" y="3219450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Wishlists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344025" y="3733800"/>
            <a:ext cx="1962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Save and track favorite properties seamlessly.</a:t>
            </a:r>
            <a:endParaRPr/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3830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29125" y="25146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19950" y="25146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ROLES &amp; PERMISSIONS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2447925"/>
            <a:ext cx="11049000" cy="22764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20"/>
          <p:cNvGraphicFramePr/>
          <p:nvPr/>
        </p:nvGraphicFramePr>
        <p:xfrm>
          <a:off x="571500" y="24479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{E9E068A1-7F28-4F42-AAEA-B05C065F3D0A}</a:tableStyleId>
              </a:tblPr>
              <a:tblGrid>
                <a:gridCol w="229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Permissions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Dashboard Tools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System Admin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System Control &amp; Governance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Mgmt, Reports, Site Settings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Property Owner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 Management &amp; Bookings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Property CRUD, Approval Workflow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Seeker / Tenant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Discovery &amp; Reservation Requests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Profile, Favorites, Message History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7" name="Google Shape;217;p20"/>
          <p:cNvSpPr txBox="1"/>
          <p:nvPr/>
        </p:nvSpPr>
        <p:spPr>
          <a:xfrm>
            <a:off x="571500" y="5010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*Strict Role-Based Access Control (RBAC) ensures data security across all levels.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3614737"/>
            <a:ext cx="229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871192" y="3614737"/>
            <a:ext cx="434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213699" y="3614737"/>
            <a:ext cx="4406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4167187"/>
            <a:ext cx="229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871192" y="4167187"/>
            <a:ext cx="434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213699" y="4167187"/>
            <a:ext cx="4406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TECHNOLOGY STACK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48815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Leveraging the power of the Microsoft .NET ecosystem for high performance.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2576512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Backend Infrastructure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286500" y="2576512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Frontend Standards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00125" y="31289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ASP.NET Core MVC (C#)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00125" y="3586162"/>
            <a:ext cx="4905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 Server / EF Core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00125" y="40433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ASP.NET Core Identity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715125" y="3128962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HTML5 &amp;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Tailwind CSS 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715113" y="3632587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JavaScript &amp; DOM Manipulation</a:t>
            </a:r>
            <a:endParaRPr/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71825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242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814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171825"/>
            <a:ext cx="171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72200" y="3605225"/>
            <a:ext cx="2000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ASP.NET CORE MVC ARCHITECTURE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3358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1000125" y="217646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Represents data structures and business logic.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000125" y="29194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View: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Responsible for UI presentation via Razor Pages.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000125" y="36623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Controller: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requests, routing, and logic flow.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000125" y="411956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Dependency Injection: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Built-in support for loosely coupled services.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5937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DESIGN &amp; STRUCTURE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795462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6286500" y="2624137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Entity Framework Core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286500" y="31384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Utilizing a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Code-First Approach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our database schema was generated directly from C# domain models.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715125" y="38623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Relational Integrity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715125" y="43195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Auto-Generated Migrations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715125" y="47767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Entities: Users, Properties, Bookings</a:t>
            </a:r>
            <a:endParaRPr/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9004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3576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48148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ERD</a:t>
            </a:r>
            <a:endParaRPr sz="33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571500" y="571500"/>
            <a:ext cx="57300" cy="61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 hidden="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24" hidden="1"/>
          <p:cNvSpPr txBox="1">
            <a:spLocks noGrp="1"/>
          </p:cNvSpPr>
          <p:nvPr>
            <p:ph type="body" idx="1"/>
          </p:nvPr>
        </p:nvSpPr>
        <p:spPr>
          <a:xfrm>
            <a:off x="390300" y="2537550"/>
            <a:ext cx="5486400" cy="80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7D632A7-2C45-EED6-1C41-DA061355E5E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/>
        </p:blipFill>
        <p:spPr>
          <a:xfrm>
            <a:off x="1655732" y="1412515"/>
            <a:ext cx="8542005" cy="487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AUTHENTICATION &amp; SECURITY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5424650" y="1053687"/>
            <a:ext cx="5334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5424650" y="2291937"/>
            <a:ext cx="53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 Identity Framework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6286500" y="2967037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ASP.NET Core Identity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715125" y="35194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Industry-Standard Password Hashing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6715125" y="39766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Claim-Based Authorization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6715125" y="44338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 Session Management</a:t>
            </a:r>
            <a:endParaRPr dirty="0"/>
          </a:p>
        </p:txBody>
      </p:sp>
      <p:pic>
        <p:nvPicPr>
          <p:cNvPr id="296" name="Google Shape;29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5575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0147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47198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 hidden="1"/>
          <p:cNvSpPr txBox="1">
            <a:spLocks/>
          </p:cNvSpPr>
          <p:nvPr>
            <p:ph type="title"/>
          </p:nvPr>
        </p:nvSpPr>
        <p:spPr>
          <a:xfrm>
            <a:off x="6343650" y="5541187"/>
            <a:ext cx="54864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00" name="Google Shape;300;p25" title="لقطة شاشة 2026-05-14 020353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7">
            <a:alphaModFix/>
          </a:blip>
          <a:srcRect l="3294" r="4173"/>
          <a:stretch/>
        </p:blipFill>
        <p:spPr>
          <a:xfrm>
            <a:off x="108425" y="1345413"/>
            <a:ext cx="5945448" cy="4671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PROPERTY MANAGEMENT WORKFLOW</a:t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71500" y="391001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510733" y="45005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Submission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571500" y="501491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Owner uploads property details &amp; images.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3383413" y="215741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3444180" y="267176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 performs automatic data checks.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6256094" y="45005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Admin Review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6316860" y="501491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Administrator verifies listing quality.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9128774" y="215741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Live Status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9189541" y="267176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Property becomes visible to all seekers.</a:t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1672530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4545210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7417891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10290571" y="3814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4137"/>
            <a:ext cx="11049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EFFICIENT BOOKING ENGINE</a:t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1314450" y="3090862"/>
            <a:ext cx="9991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Validation: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Prevents double-bookings and date conflicts automatically.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314450" y="3548062"/>
            <a:ext cx="9991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 Notifications: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Owners receive immediate alerts for new reservation requests.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1314450" y="4005262"/>
            <a:ext cx="9991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Status Tracking: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Clear visibility of Pending, Confirmed, and Cancelled bookings.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1314450" y="4462462"/>
            <a:ext cx="9991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Agreement Flow: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Digital handshake between tenant and landlord within the app.</a:t>
            </a:r>
            <a:endParaRPr/>
          </a:p>
        </p:txBody>
      </p:sp>
      <p:pic>
        <p:nvPicPr>
          <p:cNvPr id="333" name="Google Shape;33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" y="31289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5825" y="3586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825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5825" y="4500562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533400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28925"/>
            <a:ext cx="53340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 DASHBOARD &amp; METRICS</a:t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885825" y="3514725"/>
            <a:ext cx="4940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Centralized Control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885825" y="4029075"/>
            <a:ext cx="4705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unified panel to oversee entire system health and user interactions across the platform.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6600825" y="3514725"/>
            <a:ext cx="4940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Live Reporting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6600825" y="4029075"/>
            <a:ext cx="4705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Generate automated metrics on total properties, active users, and monthly booking trends.</a:t>
            </a:r>
            <a:endParaRPr/>
          </a:p>
        </p:txBody>
      </p:sp>
      <p:pic>
        <p:nvPicPr>
          <p:cNvPr id="350" name="Google Shape;35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" y="31718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0825" y="3171825"/>
            <a:ext cx="2286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&amp; DATA INTEGRITY</a:t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1000125" y="30908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Dual-Layer Validation: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Robust client-side and server-side input checks.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1000125" y="35480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CSRF Protection: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Integrated Anti-Forgery tokens for all form submissions.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1000125" y="40052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SQLi Prevention: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Parameterized queries enforced via Entity Framework Core.</a:t>
            </a:r>
            <a:endParaRPr/>
          </a:p>
        </p:txBody>
      </p:sp>
      <p:pic>
        <p:nvPicPr>
          <p:cNvPr id="362" name="Google Shape;36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289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86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336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1787"/>
            <a:ext cx="53340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71787"/>
            <a:ext cx="53340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DEVELOPMENT CHALLENGES</a:t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885825" y="3186112"/>
            <a:ext cx="4940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Technical Hurdles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885825" y="3700462"/>
            <a:ext cx="4705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Managing complex database migrations and asynchronous image storage required advanced problem-solving within the EF Core framework.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6600825" y="3186112"/>
            <a:ext cx="4940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Logic Complexity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6600825" y="3700462"/>
            <a:ext cx="4705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Developing conflict-free booking state management and ensuring UI/UX consistency across diverse user roles was a major focus area.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ROADMAP &amp; GROWTH</a:t>
            </a:r>
            <a:endParaRPr/>
          </a:p>
        </p:txBody>
      </p:sp>
      <p:sp>
        <p:nvSpPr>
          <p:cNvPr id="385" name="Google Shape;385;p3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571500" y="5605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Upcoming: Payment Gateway Integration | AI Recommendations | Native Mobile Apps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2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2286000" y="19050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attention.</a:t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5381625" y="2628900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>
            <a:off x="571500" y="30480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Locamonda: The Future of Real Estate</a:t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571500" y="35242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www.locamonda.com | info@locamonda.com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Widescreen</PresentationFormat>
  <Paragraphs>126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Inter</vt:lpstr>
      <vt:lpstr>Calibri</vt:lpstr>
      <vt:lpstr>Poppins</vt:lpstr>
      <vt:lpstr>Inter SemiBold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Elfoly</cp:lastModifiedBy>
  <cp:revision>1</cp:revision>
  <dcterms:modified xsi:type="dcterms:W3CDTF">2026-05-14T01:18:46Z</dcterms:modified>
</cp:coreProperties>
</file>